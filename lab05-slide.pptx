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JetBrains Mono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오늘 탐구할 핵심 질문을 띄운 채 수업을 시작한다.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관계맺기. 지금까지 배운 것을 짧게 되짚고, 오늘 목표를 '자연스럽게 걷는 캐릭터'로 연결한다.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학습목표 제시. 지식·이해/과정·기능/가치·태도 3가지를 간단히 소개하고 넘어간다. 자세한 설명보다는 '오늘 이런 걸 할 수 있게 된다'는 방향 제시가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집중하기. 같은 이동 코드를 60/30 FPS로 실행한 두 화면을 실제로 보여주고, 예상 답을 각자 한 문장으로 적게 한다. 인지 갈등 유발이 목적.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집중하기. 개념적 렌즈 '일관성'을 제시. 오늘 활동은 이 렌즈로 이동 코드를 들여다보는 과정임을 안내.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활동1. subsurface()로 원하는 칸을 직접 잘라보게 한다. (열,행)→픽셀 좌표 공식을 학생이 스스로 세워보도록 유도.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조사 활동2. 짝 활동. 두 코드를 나란히 실행하고 FPS를 강제로 낮춰 관찰·기록하게 한다. 속도가 바뀌는 쪽/유지되는 쪽을 데이터로 확인.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조직·정리. 모둠이 관찰한 값을 표에 채우게 하고, 방식 B가 왜 일정한지 데이터로 확인시킨다.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조직·정리. dt를 곱하는 것이 '속도×시간=거리'라는 익숙한 물리 공식과 같음을 연결한다. 방향→속도→변위 3단계로 코드 한 줄을 분해.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일반화. 교사가 정답을 주지 않는다. 모둠이 관찰 데이터를 근거로 빈칸을 채워 문장을 완성하게 하고, 근거가 된 데이터를 되물어 확인한다.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전이. '일관성' 원리가 정규화에도 그대로 적용됨을 확인. 학생이 만든 일반화 문장이 이 새 상황에도 통하는지 검토하고 필요하면 문장을 다듬게 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성찰. 모둠 일반화 문장을 1~2개 발표해 비교·보완하고, 이번 주 통합 과제(델타타임 걷기 캐릭터)를 안내한다.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1371600" cy="822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380744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84248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587752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2743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정보과학프로젝트 · 실습 5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2004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움직임은 어떻게</a:t>
            </a:r>
            <a:endParaRPr lang="en-US" sz="4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똑같이 유지될까?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795528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9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스프라이트시트 애니메이션과 델타타임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95528" y="5715000"/>
            <a:ext cx="3108960" cy="0"/>
          </a:xfrm>
          <a:prstGeom prst="line">
            <a:avLst/>
          </a:prstGeom>
          <a:noFill/>
          <a:ln w="31750">
            <a:solidFill>
              <a:srgbClr val="3B82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관계맺기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 우리가 만든 캐릭터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1~2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움직이고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애니메이션 주기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547872" y="2194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47872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3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85032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부딪힘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판정하기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55664" y="2194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778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4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92824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중력·반사로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튕기기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363456" y="21945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22C55E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363456" y="24871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500616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오늘: 자연스럽게</a:t>
            </a:r>
            <a:endParaRPr lang="en-US" sz="15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걷게 만들기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이 캐릭터를 “어느 컴퓨터에서 실행해도 똑같은 속도로” 걷게 만들어 봅니다.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목표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시간이 끝나면 여러분은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2075688"/>
            <a:ext cx="731520" cy="7315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20756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9659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지식·이해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196596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스프라이트시트 분할 원리와, 델타타임(dt)이 “프레임 수” 대신 “경과 시간”을 기준으로 물리량을 계산하는 방식임을 설명할 수 있다.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85800" y="3493008"/>
            <a:ext cx="731520" cy="731520"/>
          </a:xfrm>
          <a:prstGeom prst="ellipse">
            <a:avLst/>
          </a:prstGeom>
          <a:solidFill>
            <a:srgbClr val="F5B30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338328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과정·기능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3383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pygame.Rect·subsurface()로 프레임을 분할하고, pygame.Vector2와 clock.tick()을 활용해 프레임 속도(FPS)와 무관하게 동일한 속도로 동작하는 이동·애니메이션 코드를 작성할 수 있다.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85800" y="4910328"/>
            <a:ext cx="731520" cy="7315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4910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80060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가치·태도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480060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실행 조건에서 관찰한 데이터를 근거로 일반화된 원리를 스스로 진술하고, 이를 새로운 상황에 적용하려는 탐구적 태도를 기른다.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B301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코드인데 왜 다르게 움직일까?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1A2B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3B82F6">
              <a:alpha val="4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91056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3B82F6">
              <a:alpha val="4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21992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3B82F6">
              <a:alpha val="42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52928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빠른 컴퓨터 (60 FPS)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1초에 240칸 이동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965960"/>
            <a:ext cx="5120640" cy="2011680"/>
          </a:xfrm>
          <a:prstGeom prst="roundRect">
            <a:avLst>
              <a:gd name="adj" fmla="val 4545"/>
            </a:avLst>
          </a:prstGeom>
          <a:solidFill>
            <a:srgbClr val="141A2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55080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86016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16952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47888" y="2286000"/>
            <a:ext cx="502920" cy="502920"/>
          </a:xfrm>
          <a:prstGeom prst="roundRect">
            <a:avLst>
              <a:gd name="adj" fmla="val 16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063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느린 컴퓨터 (30 FPS)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456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5D9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1초에 120칸 — 절반밖에 못 감!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0881360" cy="1554480"/>
          </a:xfrm>
          <a:prstGeom prst="roundRect">
            <a:avLst>
              <a:gd name="adj" fmla="val 5882"/>
            </a:avLst>
          </a:prstGeom>
          <a:solidFill>
            <a:srgbClr val="FFF6E0"/>
          </a:solidFill>
          <a:ln w="17780">
            <a:solidFill>
              <a:srgbClr val="F5B30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407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6A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생각해 볼 질문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7548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b="1" i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“코드의 speed 값은 똑같은데, 왜 실제 이동 거리는 다를까?”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B301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집중하기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핵심 개념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0" y="2468880"/>
            <a:ext cx="6675120" cy="1554480"/>
          </a:xfrm>
          <a:prstGeom prst="roundRect">
            <a:avLst>
              <a:gd name="adj" fmla="val 8235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0" y="265176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일관성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3493008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C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4343400"/>
            <a:ext cx="8503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C7D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환경(컴퓨터 성능)이 달라져도</a:t>
            </a:r>
            <a:endParaRPr lang="en-US" sz="1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C7D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똑같이 유지되어야 한다는 생각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5715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탐구가 끝나면, 이 ‘일관성’을 지키는 방법을 여러분이 직접 문장으로 정리하게 됩니다.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C55E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조사하기 · 활동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장의 이미지에서 프레임 꺼내기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스프라이트시트 = 여러 그림을 격자로 모아둔 한 장의 이미지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852160" cy="3200400"/>
          </a:xfrm>
          <a:prstGeom prst="roundRect">
            <a:avLst>
              <a:gd name="adj" fmla="val 2286"/>
            </a:avLst>
          </a:prstGeom>
          <a:solidFill>
            <a:srgbClr val="0F162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31720"/>
            <a:ext cx="5852160" cy="402336"/>
          </a:xfrm>
          <a:prstGeom prst="roundRect">
            <a:avLst>
              <a:gd name="adj" fmla="val 18182"/>
            </a:avLst>
          </a:prstGeom>
          <a:solidFill>
            <a:srgbClr val="0A1120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532888"/>
            <a:ext cx="5852160" cy="201168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331720"/>
            <a:ext cx="5394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프레임 잘라내기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862072"/>
            <a:ext cx="534009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C8C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(열, 행) → 픽셀 좌표로 바꿔서 한 칸만 자른다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FB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def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get_frame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(sheet, col, row, size):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rect = pygame.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Rect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    col * size, row * size, size, size)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</a:t>
            </a:r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8FB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sheet.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subsurface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(rect).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copy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i="1" dirty="0">
                <a:solidFill>
                  <a:srgbClr val="7C8C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예: 3번째 열, 2번째 행 프레임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frame =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get_frame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(sheet,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</a:t>
            </a:r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766560" y="2331720"/>
            <a:ext cx="47548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778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0" y="25603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변환 공식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30175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x = 열 × 프레임 너비</a:t>
            </a:r>
            <a:endParaRPr lang="en-US" sz="170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700" b="1" dirty="0">
                <a:solidFill>
                  <a:srgbClr val="1A2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y = 행 × 프레임 높이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41148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잘라낸 프레임들을 리스트에 저장해 두고, 애니메이션이 진행될 때는 “몇 번째 프레임을 보여줄지” 숫자만 바꿔가며 그립니다.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C55E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조사하기 · 활동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이동 방식, 직접 비교하기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0F162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5349240" cy="402336"/>
          </a:xfrm>
          <a:prstGeom prst="roundRect">
            <a:avLst>
              <a:gd name="adj" fmla="val 18182"/>
            </a:avLst>
          </a:prstGeom>
          <a:solidFill>
            <a:srgbClr val="0A1120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395728"/>
            <a:ext cx="5349240" cy="201168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194560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방식 A · 프레임 기준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724912"/>
            <a:ext cx="48371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7C8C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방식 A: 프레임마다 정해진 픽셀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speed =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B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running: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clock.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tick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rect.x += speed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219456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0F1626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2194560"/>
            <a:ext cx="5349240" cy="402336"/>
          </a:xfrm>
          <a:prstGeom prst="roundRect">
            <a:avLst>
              <a:gd name="adj" fmla="val 18182"/>
            </a:avLst>
          </a:prstGeom>
          <a:solidFill>
            <a:srgbClr val="0A1120"/>
          </a:solidFill>
          <a:ln/>
        </p:spPr>
      </p:sp>
      <p:sp>
        <p:nvSpPr>
          <p:cNvPr id="12" name="Shape 10"/>
          <p:cNvSpPr/>
          <p:nvPr/>
        </p:nvSpPr>
        <p:spPr>
          <a:xfrm>
            <a:off x="6172200" y="2395728"/>
            <a:ext cx="5349240" cy="201168"/>
          </a:xfrm>
          <a:prstGeom prst="rect">
            <a:avLst/>
          </a:prstGeom>
          <a:solidFill>
            <a:srgbClr val="0A11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0" y="2194560"/>
            <a:ext cx="4892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B87A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방식 B · 시간 기준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28232" y="2724912"/>
            <a:ext cx="483717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7C8C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방식 B: 흐른 시간을 곱해서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speed =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180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B2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running: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dt = clock.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tick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60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 / </a:t>
            </a:r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1000</a:t>
            </a:r>
            <a:endParaRPr lang="en-US" sz="1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pos.x += speed * dt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09160"/>
            <a:ext cx="10881360" cy="1143000"/>
          </a:xfrm>
          <a:prstGeom prst="roundRect">
            <a:avLst>
              <a:gd name="adj" fmla="val 8000"/>
            </a:avLst>
          </a:prstGeom>
          <a:solidFill>
            <a:srgbClr val="E8F5EC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8463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7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51663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FPS를 60 → 30으로 바꾸면서, 두 방식의 이동 속도가 각각 어떻게 달라지는지 관찰하고 기록해 보세요.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조직·정리하기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관찰한 결과를 표로 정리하면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286000"/>
          <a:ext cx="97840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749040"/>
                <a:gridCol w="374904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 A (프레임 기준)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방식 B (시간 기준)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 FPS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240칸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A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240칸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A203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 FPS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EF444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120칸 (절반!)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37A4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240칸 (그대로)</a:t>
                      </a:r>
                      <a:endParaRPr lang="en-US" sz="1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188720" y="4754880"/>
            <a:ext cx="9784080" cy="1188720"/>
          </a:xfrm>
          <a:prstGeom prst="roundRect">
            <a:avLst>
              <a:gd name="adj" fmla="val 7692"/>
            </a:avLst>
          </a:prstGeom>
          <a:solidFill>
            <a:srgbClr val="1E2740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463040" y="4937760"/>
            <a:ext cx="9235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E6EC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방식 B는 FPS가 절반이 되어도 이동 거리가 똑같습니다. 프레임 수가 줄어든 만큼, 한 프레임에 곱해지는 dt가 커져서 총 거리를 보정하기 때문입니다.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3B82F6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조직·정리하기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시간(dt)을 곱하면 똑같아질까?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94560" y="2286000"/>
            <a:ext cx="7772400" cy="1188720"/>
          </a:xfrm>
          <a:prstGeom prst="roundRect">
            <a:avLst>
              <a:gd name="adj" fmla="val 9231"/>
            </a:avLst>
          </a:prstGeom>
          <a:solidFill>
            <a:srgbClr val="141A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194560" y="2286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EB9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거리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=  </a:t>
            </a:r>
            <a:pPr algn="ctr" indent="0" marL="0">
              <a:buNone/>
            </a:pPr>
            <a:r>
              <a:rPr lang="en-US" sz="2600" b="1" dirty="0">
                <a:solidFill>
                  <a:srgbClr val="8FB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×  </a:t>
            </a:r>
            <a:pPr algn="ctr" indent="0" marL="0">
              <a:buNone/>
            </a:pPr>
            <a:r>
              <a:rPr lang="en-US" sz="2600" b="1" dirty="0">
                <a:solidFill>
                  <a:srgbClr val="F2C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시간(dt)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3749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물리 시간에 배운 변위 공식과 완전히 같은 식입니다:  Δ거리 = 속도 × Δ시간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71600" y="43891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3B82F6">
              <a:alpha val="12000"/>
            </a:srgbClr>
          </a:solidFill>
          <a:ln w="17780">
            <a:solidFill>
              <a:srgbClr val="3B82F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방향 정하기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5074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쪽으로?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(단위벡터, 길이 1)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4892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480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800600" y="43891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5B301">
              <a:alpha val="12000"/>
            </a:srgbClr>
          </a:solidFill>
          <a:ln w="17780">
            <a:solidFill>
              <a:srgbClr val="F5B30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0060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속도 만들기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5074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 × 속력(speed)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속도 벡터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489204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48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229600" y="438912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22C55E">
              <a:alpha val="12000"/>
            </a:srgbClr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실제 이동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507492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 × dt</a:t>
            </a:r>
            <a:endParaRPr lang="en-US" sz="13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이번 프레임 변위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B301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일반화하기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발견한 원리를 한 문장으로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9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빈칸을 모둠에서 직접 채워 보세요.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9966960" cy="1737360"/>
          </a:xfrm>
          <a:prstGeom prst="roundRect">
            <a:avLst>
              <a:gd name="adj" fmla="val 6316"/>
            </a:avLst>
          </a:prstGeom>
          <a:solidFill>
            <a:srgbClr val="1E2740"/>
          </a:solidFill>
          <a:ln w="17780">
            <a:solidFill>
              <a:srgbClr val="F5B30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463040" y="2697480"/>
            <a:ext cx="9235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“물리량은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       )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아니라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       )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기준으로 계산해야, 실행 환경과 무관하게 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          )</a:t>
            </a:r>
            <a:pPr algn="l" indent="0" marL="0">
              <a:lnSpc>
                <a:spcPct val="13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 결과를 얻는다.”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4526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힌트가 되는 질문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48920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7D2E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컴퓨터 성능이 달라도 항상 똑같이 유지되어야 하는 것은 무엇인가요?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22C55E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전이하기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203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새로운 상황에도 적용될까?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방향키 → 와 ↓ 를 동시에 누르면, 대각선으로 더 빨라지는 문제가 생깁니다.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3492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7780">
            <a:solidFill>
              <a:srgbClr val="EF44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2514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정규화 안 하면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1A203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대각선 벡터 (1, 1)의 길이</a:t>
            </a:r>
            <a:endParaRPr lang="en-US" sz="16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EF444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 √(1²+1²) ≈ 1.41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11480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대각선 이동이 가로·세로보다 41% 더 빨라짐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2331720"/>
            <a:ext cx="53949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778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7A4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normalize() 로 정규화하면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971800"/>
            <a:ext cx="4846320" cy="2148840"/>
          </a:xfrm>
          <a:prstGeom prst="roundRect">
            <a:avLst>
              <a:gd name="adj" fmla="val 3404"/>
            </a:avLst>
          </a:prstGeom>
          <a:solidFill>
            <a:srgbClr val="0F162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56832" y="3191256"/>
            <a:ext cx="433425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 = pygame.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Vector2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 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2C07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move = move.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7DD9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normalize</a:t>
            </a:r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()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i="1" dirty="0">
                <a:solidFill>
                  <a:srgbClr val="7C8CA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길이를 1로 맞춤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E6EC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 += move * speed * dt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rgbClr val="F5B301">
              <a:alpha val="14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성찰하기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932688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 &amp; 다음 미션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577840" cy="3657600"/>
          </a:xfrm>
          <a:prstGeom prst="roundRect">
            <a:avLst>
              <a:gd name="adj" fmla="val 3000"/>
            </a:avLst>
          </a:prstGeom>
          <a:solidFill>
            <a:srgbClr val="1E274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77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30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정리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C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움직임은 프레임이 아니라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C0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시간(dt)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C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기준으로 계산해야 </a:t>
            </a:r>
            <a:pPr algn="l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8FB2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컴퓨터에서도 똑같이</a:t>
            </a:r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CF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움직인다.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572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BE39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 += move.normalize() * speed * dt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51206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EB9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한 줄에 방향·속도·시간이 모두 들어 있습니다.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92240" y="2194560"/>
            <a:ext cx="5029200" cy="3657600"/>
          </a:xfrm>
          <a:prstGeom prst="roundRect">
            <a:avLst>
              <a:gd name="adj" fmla="val 3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76656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E6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통합 과제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283464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델타타임으로 걷는 캐릭터 만들기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3840480"/>
            <a:ext cx="4389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방향키로 캐릭터를 움직이고</a:t>
            </a:r>
            <a:endParaRPr lang="en-US" sz="15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방향에 맞는 스프라이트 프레임 재생</a:t>
            </a:r>
            <a:endParaRPr lang="en-US" sz="1500" dirty="0"/>
          </a:p>
          <a:p>
            <a:pPr algn="l" marL="342900" indent="-342900">
              <a:lnSpc>
                <a:spcPct val="130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AF1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FPS를 표시해 속도가 일정한지 확인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766560" y="5577840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68896" y="5577840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F5B301"/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71232" y="5577840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73568" y="5577840"/>
            <a:ext cx="310896" cy="310896"/>
          </a:xfrm>
          <a:prstGeom prst="roundRect">
            <a:avLst>
              <a:gd name="adj" fmla="val 16000"/>
            </a:avLst>
          </a:prstGeom>
          <a:solidFill>
            <a:srgbClr val="F5B301">
              <a:alpha val="42000"/>
            </a:srgbClr>
          </a:solidFill>
          <a:ln w="12700">
            <a:solidFill>
              <a:srgbClr val="F5B30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 5 · 스프라이트시트와 델타타임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B87A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2026-09-13T09:37:08Z</dcterms:created>
  <dcterms:modified xsi:type="dcterms:W3CDTF">2026-09-13T09:37:08Z</dcterms:modified>
</cp:coreProperties>
</file>